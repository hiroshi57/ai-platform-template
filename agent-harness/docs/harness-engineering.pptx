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617720"/>
            <a:ext cx="12191695" cy="60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C9C2FF"/>
                </a:solidFill>
                <a:latin typeface="Meiryo"/>
              </a:rPr>
              <a:t>HARNESS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eiryo"/>
              </a:rPr>
              <a:t>ハーネス・エンジニアリング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eiryo"/>
              </a:rPr>
              <a:t>AIエージェントを安全に動かす「6層」ミニ教材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>
                <a:solidFill>
                  <a:srgbClr val="E7E3FF"/>
                </a:solidFill>
                <a:latin typeface="Meiryo"/>
              </a:rPr>
              <a:t>プロンプトを強くするのではなく、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「行動し・成果を証明し・失敗から回復できる環境」を設計する。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0">
                <a:solidFill>
                  <a:srgbClr val="C9C2FF"/>
                </a:solidFill>
                <a:latin typeface="Meiryo"/>
              </a:rPr>
              <a:t>agent-harness/ — 依存パッケージゼロの Node.js で実際に動くデモ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C9C2FF"/>
                </a:solidFill>
                <a:latin typeface="Meiryo"/>
              </a:rPr>
              <a:t>github.com/hiroshi57/ai-platform-template  ›  agent-harness/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eiry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332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eiryo"/>
              </a:rPr>
              <a:t>AIエージェントとは？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D9D4FF"/>
                </a:solidFill>
                <a:latin typeface="Meiryo"/>
              </a:rPr>
              <a:t>McKinsey「What is an AI agent?」より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64240" cy="132588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5156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eiryo"/>
              </a:rPr>
              <a:t>目標に向けて </a:t>
            </a:r>
            <a:r>
              <a:rPr sz="2000" b="1">
                <a:solidFill>
                  <a:srgbClr val="FFFFFF"/>
                </a:solidFill>
                <a:latin typeface="Meiryo"/>
              </a:rPr>
              <a:t>知覚 → 推論・計画 → ツールで行動</a:t>
            </a:r>
            <a:r>
              <a:rPr sz="2000" b="0">
                <a:solidFill>
                  <a:srgbClr val="FFFFFF"/>
                </a:solidFill>
                <a:latin typeface="Meiryo"/>
              </a:rPr>
              <a:t> を、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人手を最小限に自律的に繰り返すシステム。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2697480" cy="1600200"/>
          </a:xfrm>
          <a:prstGeom prst="rect">
            <a:avLst/>
          </a:prstGeom>
          <a:solidFill>
            <a:srgbClr val="F3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063240"/>
            <a:ext cx="2697480" cy="109728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64992"/>
            <a:ext cx="2286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4C3AE3"/>
                </a:solidFill>
                <a:latin typeface="Meiryo"/>
              </a:rPr>
              <a:t>知覚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00" b="0">
                <a:solidFill>
                  <a:srgbClr val="4C3AE3"/>
                </a:solidFill>
                <a:latin typeface="Meiryo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430"/>
                </a:solidFill>
                <a:latin typeface="Meiryo"/>
              </a:rPr>
              <a:t>入力・環境を把握する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3063240"/>
            <a:ext cx="2697480" cy="1600200"/>
          </a:xfrm>
          <a:prstGeom prst="rect">
            <a:avLst/>
          </a:prstGeom>
          <a:solidFill>
            <a:srgbClr val="F3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3063240"/>
            <a:ext cx="2697480" cy="109728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3364992"/>
            <a:ext cx="2286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4C3AE3"/>
                </a:solidFill>
                <a:latin typeface="Meiryo"/>
              </a:rPr>
              <a:t>推論・計画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00" b="0">
                <a:solidFill>
                  <a:srgbClr val="4C3AE3"/>
                </a:solidFill>
                <a:latin typeface="Meiryo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430"/>
                </a:solidFill>
                <a:latin typeface="Meiryo"/>
              </a:rPr>
              <a:t>目標を分解し手順を決める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3063240"/>
            <a:ext cx="2697480" cy="1600200"/>
          </a:xfrm>
          <a:prstGeom prst="rect">
            <a:avLst/>
          </a:prstGeom>
          <a:solidFill>
            <a:srgbClr val="F3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3063240"/>
            <a:ext cx="2697480" cy="109728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3364992"/>
            <a:ext cx="2286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4C3AE3"/>
                </a:solidFill>
                <a:latin typeface="Meiryo"/>
              </a:rPr>
              <a:t>行動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00" b="0">
                <a:solidFill>
                  <a:srgbClr val="4C3AE3"/>
                </a:solidFill>
                <a:latin typeface="Meiryo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430"/>
                </a:solidFill>
                <a:latin typeface="Meiryo"/>
              </a:rPr>
              <a:t>ツールを使って外界へ働きかける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7696" y="3063240"/>
            <a:ext cx="2697480" cy="1600200"/>
          </a:xfrm>
          <a:prstGeom prst="rect">
            <a:avLst/>
          </a:prstGeom>
          <a:solidFill>
            <a:srgbClr val="F3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7696" y="3063240"/>
            <a:ext cx="2697480" cy="109728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3364992"/>
            <a:ext cx="22860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4C3AE3"/>
                </a:solidFill>
                <a:latin typeface="Meiryo"/>
              </a:rPr>
              <a:t>自律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00" b="0">
                <a:solidFill>
                  <a:srgbClr val="4C3AE3"/>
                </a:solidFill>
                <a:latin typeface="Meiryo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430"/>
                </a:solidFill>
                <a:latin typeface="Meiryo"/>
              </a:rPr>
              <a:t>人間の監督のもとで繰り返す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C3AE3"/>
                </a:solidFill>
                <a:latin typeface="Meiryo"/>
              </a:rPr>
              <a:t>生成AIチャットボットとの違い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F2430"/>
                </a:solidFill>
                <a:latin typeface="Meiryo"/>
              </a:rPr>
              <a:t>・「答える」だけでなく「行動する」。複数ステップの業務を自分で進める。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5B6372"/>
                </a:solidFill>
                <a:latin typeface="Meiryo"/>
              </a:rPr>
              <a:t>〔要:PDF確認〕McKinsey の正確な定義文・自律レベル・数値は原文PDFから差し込む。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eiry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332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eiryo"/>
              </a:rPr>
              <a:t>なぜ「ハーネス」なのか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D9D4FF"/>
                </a:solidFill>
                <a:latin typeface="Meiryo"/>
              </a:rPr>
              <a:t>3つの問いの違い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611880" cy="2377440"/>
          </a:xfrm>
          <a:prstGeom prst="rect">
            <a:avLst/>
          </a:prstGeom>
          <a:solidFill>
            <a:srgbClr val="F3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611880" cy="128016"/>
          </a:xfrm>
          <a:prstGeom prst="rect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430"/>
                </a:solidFill>
                <a:latin typeface="Meiryo"/>
              </a:rPr>
              <a:t>プロンプト・エンジニアリング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" b="0">
                <a:solidFill>
                  <a:srgbClr val="1F2430"/>
                </a:solidFill>
                <a:latin typeface="Meiryo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Meiryo"/>
              </a:rPr>
              <a:t>モデルに何を伝えるか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1554480"/>
            <a:ext cx="3611880" cy="2377440"/>
          </a:xfrm>
          <a:prstGeom prst="rect">
            <a:avLst/>
          </a:prstGeom>
          <a:solidFill>
            <a:srgbClr val="F3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554480"/>
            <a:ext cx="3611880" cy="128016"/>
          </a:xfrm>
          <a:prstGeom prst="rect">
            <a:avLst/>
          </a:prstGeom>
          <a:solidFill>
            <a:srgbClr val="B9C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965960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2430"/>
                </a:solidFill>
                <a:latin typeface="Meiryo"/>
              </a:rPr>
              <a:t>コンテキスト・エンジニアリング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" b="0">
                <a:solidFill>
                  <a:srgbClr val="1F2430"/>
                </a:solidFill>
                <a:latin typeface="Meiryo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Meiryo"/>
              </a:rPr>
              <a:t>いまモデルが何を知っているか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1554480"/>
            <a:ext cx="3611880" cy="237744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4" y="1554480"/>
            <a:ext cx="3611880" cy="128016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58784" y="1965960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eiryo"/>
              </a:rPr>
              <a:t>ハーネス・エンジニアリング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" b="0">
                <a:solidFill>
                  <a:srgbClr val="FFFFFF"/>
                </a:solidFill>
                <a:latin typeface="Meiryo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E7E3FF"/>
                </a:solidFill>
                <a:latin typeface="Meiryo"/>
              </a:rPr>
              <a:t>モデルが行動し・証明し・回復し
安全に改善できる仕組みとは何か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4C3AE3"/>
                </a:solidFill>
                <a:latin typeface="Meiryo"/>
              </a:rPr>
              <a:t>要点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Meiryo"/>
              </a:rPr>
              <a:t>・「良さそう」は停止条件ではない。「チェックが全部通った」が停止条件。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Meiryo"/>
              </a:rPr>
              <a:t>・失敗したら、プロンプトを強い口調にするのではなく『欠けている能力は何か』を問う。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1F2430"/>
                </a:solidFill>
                <a:latin typeface="Meiryo"/>
              </a:rPr>
              <a:t>・自律性は、証拠の質が上がった分だけ広げてよい。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eiry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332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eiryo"/>
              </a:rPr>
              <a:t>6層の全体像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D9D4FF"/>
                </a:solidFill>
                <a:latin typeface="Meiryo"/>
              </a:rPr>
              <a:t>各層が1ファイルに対応している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103120" cy="713232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188366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層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417320"/>
            <a:ext cx="5120640" cy="713232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417320"/>
            <a:ext cx="4901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役割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417320"/>
            <a:ext cx="3840480" cy="713232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8" y="1417320"/>
            <a:ext cx="362102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対応ファイル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30552"/>
            <a:ext cx="210312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130552"/>
            <a:ext cx="188366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4C3AE3"/>
                </a:solidFill>
                <a:latin typeface="Meiryo"/>
              </a:rPr>
              <a:t>1 契約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130552"/>
            <a:ext cx="512064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2130552"/>
            <a:ext cx="4901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Meiryo"/>
              </a:rPr>
              <a:t>クエストを機械可読な契約に変換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130552"/>
            <a:ext cx="384048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8" y="2130552"/>
            <a:ext cx="362102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Meiryo"/>
              </a:rPr>
              <a:t>contracts/feature_042.json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43784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843784"/>
            <a:ext cx="188366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4C3AE3"/>
                </a:solidFill>
                <a:latin typeface="Meiryo"/>
              </a:rPr>
              <a:t>2 コンテキスト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843784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2843784"/>
            <a:ext cx="4901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Meiryo"/>
              </a:rPr>
              <a:t>高信号な情報だけを組み立てる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2843784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8" y="2843784"/>
            <a:ext cx="362102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Meiryo"/>
              </a:rPr>
              <a:t>src/context.mjs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57016"/>
            <a:ext cx="210312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557016"/>
            <a:ext cx="188366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4C3AE3"/>
                </a:solidFill>
                <a:latin typeface="Meiryo"/>
              </a:rPr>
              <a:t>3 ゲートウェイ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557016"/>
            <a:ext cx="512064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1488" y="3557016"/>
            <a:ext cx="4901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Meiryo"/>
              </a:rPr>
              <a:t>提案・許可・実行を分離する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3557016"/>
            <a:ext cx="384048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8" y="3557016"/>
            <a:ext cx="362102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Meiryo"/>
              </a:rPr>
              <a:t>src/gateway.mjs / permissions.json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70248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270248"/>
            <a:ext cx="188366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4C3AE3"/>
                </a:solidFill>
                <a:latin typeface="Meiryo"/>
              </a:rPr>
              <a:t>4 状態・記憶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270248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61488" y="4270248"/>
            <a:ext cx="4901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Meiryo"/>
              </a:rPr>
              <a:t>継続に必要な最低限だけ残す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4270248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8" y="4270248"/>
            <a:ext cx="362102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Meiryo"/>
              </a:rPr>
              <a:t>src/state.mjs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83480"/>
            <a:ext cx="210312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983480"/>
            <a:ext cx="188366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4C3AE3"/>
                </a:solidFill>
                <a:latin typeface="Meiryo"/>
              </a:rPr>
              <a:t>5 証拠ゲート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4983480"/>
            <a:ext cx="512064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61488" y="4983480"/>
            <a:ext cx="4901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Meiryo"/>
              </a:rPr>
              <a:t>accept / retry / escalate を証拠で判定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4983480"/>
            <a:ext cx="384048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82128" y="4983480"/>
            <a:ext cx="362102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Meiryo"/>
              </a:rPr>
              <a:t>src/verify.mjs / checks/fixture.csv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696712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696712"/>
            <a:ext cx="188366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4C3AE3"/>
                </a:solidFill>
                <a:latin typeface="Meiryo"/>
              </a:rPr>
              <a:t>6 トレース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5696712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61488" y="5696712"/>
            <a:ext cx="49011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Meiryo"/>
              </a:rPr>
              <a:t>実行を1行で記録し失敗を基盤に変える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5696712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82128" y="5696712"/>
            <a:ext cx="362102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Meiryo"/>
              </a:rPr>
              <a:t>runs/traces.jsonl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eiryo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332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eiryo"/>
              </a:rPr>
              <a:t>McKinsey のエージェント像 → 6層ハーネス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D9D4FF"/>
                </a:solidFill>
                <a:latin typeface="Meiryo"/>
              </a:rPr>
              <a:t>定義を、動く仕組みに対応づける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57600" cy="713232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34381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McKinsey のエージェント能力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17320"/>
            <a:ext cx="3200400" cy="713232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417320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6層ハーネス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417320"/>
            <a:ext cx="4206240" cy="713232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417320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eiryo"/>
              </a:rPr>
              <a:t>実装の要点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30552"/>
            <a:ext cx="365760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130552"/>
            <a:ext cx="34381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eiryo"/>
              </a:rPr>
              <a:t>知覚（入力・環境把握）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130552"/>
            <a:ext cx="320040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2130552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4C3AE3"/>
                </a:solidFill>
                <a:latin typeface="Meiryo"/>
              </a:rPr>
              <a:t>層2 コンテキスト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130552"/>
            <a:ext cx="420624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2130552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  <a:latin typeface="Meiryo"/>
              </a:rPr>
              <a:t>高信号な情報だけを組み立てる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43784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843784"/>
            <a:ext cx="34381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eiryo"/>
              </a:rPr>
              <a:t>推論・計画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843784"/>
            <a:ext cx="3200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843784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4C3AE3"/>
                </a:solidFill>
                <a:latin typeface="Meiryo"/>
              </a:rPr>
              <a:t>層1 契約 ＋ モデル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84378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8" y="2843784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  <a:latin typeface="Meiryo"/>
              </a:rPr>
              <a:t>done_when で完了条件を固定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57016"/>
            <a:ext cx="365760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557016"/>
            <a:ext cx="34381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eiryo"/>
              </a:rPr>
              <a:t>ツール利用・行動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557016"/>
            <a:ext cx="320040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3557016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4C3AE3"/>
                </a:solidFill>
                <a:latin typeface="Meiryo"/>
              </a:rPr>
              <a:t>層3 ゲートウェイ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557016"/>
            <a:ext cx="420624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8" y="3557016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  <a:latin typeface="Meiryo"/>
              </a:rPr>
              <a:t>提案・許可・実行を分離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70248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270248"/>
            <a:ext cx="34381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eiryo"/>
              </a:rPr>
              <a:t>記憶・状態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270248"/>
            <a:ext cx="3200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15968" y="4270248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4C3AE3"/>
                </a:solidFill>
                <a:latin typeface="Meiryo"/>
              </a:rPr>
              <a:t>層4 状態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27024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4270248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  <a:latin typeface="Meiryo"/>
              </a:rPr>
              <a:t>継続に必要な最低限を残す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983480"/>
            <a:ext cx="365760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983480"/>
            <a:ext cx="34381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eiryo"/>
              </a:rPr>
              <a:t>自律の制御・ガードレール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983480"/>
            <a:ext cx="320040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15968" y="4983480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4C3AE3"/>
                </a:solidFill>
                <a:latin typeface="Meiryo"/>
              </a:rPr>
              <a:t>層3 権限 ＋ 層5 検証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4983480"/>
            <a:ext cx="4206240" cy="713232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16368" y="4983480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  <a:latin typeface="Meiryo"/>
              </a:rPr>
              <a:t>リスクで承認、証拠で判定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696712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696712"/>
            <a:ext cx="34381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F2430"/>
                </a:solidFill>
                <a:latin typeface="Meiryo"/>
              </a:rPr>
              <a:t>学習・改善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5696712"/>
            <a:ext cx="3200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15968" y="5696712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4C3AE3"/>
                </a:solidFill>
                <a:latin typeface="Meiryo"/>
              </a:rPr>
              <a:t>層6 トレース ＋ 失敗分類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569671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16368" y="5696712"/>
            <a:ext cx="39867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  <a:latin typeface="Meiryo"/>
              </a:rPr>
              <a:t>失敗を4種に分類し基盤に変える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eiryo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332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eiryo"/>
              </a:rPr>
              <a:t>デモの流れ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D9D4FF"/>
                </a:solidFill>
                <a:latin typeface="Meiryo"/>
              </a:rPr>
              <a:t>node agent-harness/src/harness.mjs を実行すると…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611880" cy="1783080"/>
          </a:xfrm>
          <a:prstGeom prst="rect">
            <a:avLst/>
          </a:prstGeom>
          <a:solidFill>
            <a:srgbClr val="F3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28016" cy="1783080"/>
          </a:xfrm>
          <a:prstGeom prst="rect">
            <a:avLst/>
          </a:prstGeom>
          <a:solidFill>
            <a:srgbClr val="D1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3063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D13A3A"/>
                </a:solidFill>
                <a:latin typeface="Meiryo"/>
              </a:rPr>
              <a:t>1  作る → 失敗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00" b="0">
                <a:solidFill>
                  <a:srgbClr val="D13A3A"/>
                </a:solidFill>
                <a:latin typeface="Meiryo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2430"/>
                </a:solidFill>
                <a:latin typeface="Meiryo"/>
              </a:rPr>
              <a:t>日付が 2026/09/11（ルール違反）
→ 証拠ゲートが弾く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1463040"/>
            <a:ext cx="3611880" cy="1783080"/>
          </a:xfrm>
          <a:prstGeom prst="rect">
            <a:avLst/>
          </a:prstGeom>
          <a:solidFill>
            <a:srgbClr val="F3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463040"/>
            <a:ext cx="128016" cy="1783080"/>
          </a:xfrm>
          <a:prstGeom prst="rect">
            <a:avLst/>
          </a:prstGeom>
          <a:solidFill>
            <a:srgbClr val="1EA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645920"/>
            <a:ext cx="3063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A05A"/>
                </a:solidFill>
                <a:latin typeface="Meiryo"/>
              </a:rPr>
              <a:t>2  証拠で自動修復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00" b="0">
                <a:solidFill>
                  <a:srgbClr val="1EA05A"/>
                </a:solidFill>
                <a:latin typeface="Meiryo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2430"/>
                </a:solidFill>
                <a:latin typeface="Meiryo"/>
              </a:rPr>
              <a:t>2026-09-11 に直す
→ 全チェック通過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1463040"/>
            <a:ext cx="3611880" cy="1783080"/>
          </a:xfrm>
          <a:prstGeom prst="rect">
            <a:avLst/>
          </a:prstGeom>
          <a:solidFill>
            <a:srgbClr val="F3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4" y="1463040"/>
            <a:ext cx="128016" cy="1783080"/>
          </a:xfrm>
          <a:prstGeom prst="rect">
            <a:avLst/>
          </a:prstGeom>
          <a:solidFill>
            <a:srgbClr val="0E7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04504" y="1645920"/>
            <a:ext cx="3063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0E7C9E"/>
                </a:solidFill>
                <a:latin typeface="Meiryo"/>
              </a:rPr>
              <a:t>3  承認待ちで停止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00" b="0">
                <a:solidFill>
                  <a:srgbClr val="0E7C9E"/>
                </a:solidFill>
                <a:latin typeface="Meiryo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2430"/>
                </a:solidFill>
                <a:latin typeface="Meiryo"/>
              </a:rPr>
              <a:t>送信は人間の承認が必要
→ ここで安全に止まる</a:t>
            </a:r>
          </a:p>
        </p:txBody>
      </p:sp>
      <p:pic>
        <p:nvPicPr>
          <p:cNvPr id="16" name="Picture 15" descr="harness-dem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520440"/>
            <a:ext cx="9692640" cy="39398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>
                <a:solidFill>
                  <a:srgbClr val="5B6372"/>
                </a:solidFill>
                <a:latin typeface="Meiryo"/>
              </a:rPr>
              <a:t>↑ スライドショーで再生すると実際の端末出力がアニメーションします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eiryo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332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eiryo"/>
              </a:rPr>
              <a:t>1行変えるだけで学べる4つのこと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00" b="0">
                <a:solidFill>
                  <a:srgbClr val="D9D4FF"/>
                </a:solidFill>
                <a:latin typeface="Meiryo"/>
              </a:rPr>
              <a:t>README「★自分で壊して学ぶ」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931920" cy="86868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3712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変えるもの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508760"/>
            <a:ext cx="7132320" cy="86868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08760"/>
            <a:ext cx="69128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分かること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3931920" cy="868680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3712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F2430"/>
                </a:solidFill>
                <a:latin typeface="Meiryo"/>
              </a:rPr>
              <a:t>検証チェックを消す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377440"/>
            <a:ext cx="7132320" cy="868680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377440"/>
            <a:ext cx="69128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Meiryo"/>
              </a:rPr>
              <a:t>証拠が細かいほどAIは自力で直せる。証拠がないと直せない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46120"/>
            <a:ext cx="3712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F2430"/>
                </a:solidFill>
                <a:latin typeface="Meiryo"/>
              </a:rPr>
              <a:t>契約の max_repairs を変える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3246120"/>
            <a:ext cx="7132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3246120"/>
            <a:ext cx="69128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Meiryo"/>
              </a:rPr>
              <a:t>何回リトライするかはAIでなくルール（契約）が決める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3931920" cy="868680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114800"/>
            <a:ext cx="3712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F2430"/>
                </a:solidFill>
                <a:latin typeface="Meiryo"/>
              </a:rPr>
              <a:t>権限を automatic に変える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114800"/>
            <a:ext cx="7132320" cy="868680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4114800"/>
            <a:ext cx="69128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Meiryo"/>
              </a:rPr>
              <a:t>AIのコードを1行も触らず承認要否だけ変えられる（提案・許可・実行の分離）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8348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83480"/>
            <a:ext cx="3712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F2430"/>
                </a:solidFill>
                <a:latin typeface="Meiryo"/>
              </a:rPr>
              <a:t>コンテキストから証拠を消す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983480"/>
            <a:ext cx="7132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4983480"/>
            <a:ext cx="69128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1F2430"/>
                </a:solidFill>
                <a:latin typeface="Meiryo"/>
              </a:rPr>
              <a:t>環境が証拠を返さないとAIは同じ失敗を繰り返す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94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EA05A"/>
                </a:solidFill>
                <a:latin typeface="Meiryo"/>
              </a:rPr>
              <a:t>実証済み</a:t>
            </a:r>
            <a:r>
              <a:rPr sz="1500" b="0">
                <a:solidFill>
                  <a:srgbClr val="1F2430"/>
                </a:solidFill>
                <a:latin typeface="Meiryo"/>
              </a:rPr>
              <a:t>：コンテキストから証拠を外すと、AIは修復を空振りして escalate する — を実走で確認。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eiryo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332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eiryo"/>
              </a:rPr>
              <a:t>実務での使いどころ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64240" cy="1234440"/>
          </a:xfrm>
          <a:prstGeom prst="rect">
            <a:avLst/>
          </a:prstGeom>
          <a:solidFill>
            <a:srgbClr val="F3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46304" cy="123444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4C3AE3"/>
                </a:solidFill>
                <a:latin typeface="Meiryo"/>
              </a:rPr>
              <a:t>教材として</a:t>
            </a:r>
            <a:r>
              <a:rPr sz="1600" b="0">
                <a:solidFill>
                  <a:srgbClr val="1F2430"/>
                </a:solidFill>
                <a:latin typeface="Meiryo"/>
              </a:rPr>
              <a:t>    チームに『ハーネスとは何か』を5分で説明する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63240"/>
            <a:ext cx="11064240" cy="1234440"/>
          </a:xfrm>
          <a:prstGeom prst="rect">
            <a:avLst/>
          </a:prstGeom>
          <a:solidFill>
            <a:srgbClr val="F3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146304" cy="123444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4C3AE3"/>
                </a:solidFill>
                <a:latin typeface="Meiryo"/>
              </a:rPr>
              <a:t>設計の叩き台</a:t>
            </a:r>
            <a:r>
              <a:rPr sz="1600" b="0">
                <a:solidFill>
                  <a:srgbClr val="1F2430"/>
                </a:solidFill>
                <a:latin typeface="Meiryo"/>
              </a:rPr>
              <a:t>    6層を自分のプロジェクトに当てはめる出発点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11064240" cy="1234440"/>
          </a:xfrm>
          <a:prstGeom prst="rect">
            <a:avLst/>
          </a:prstGeom>
          <a:solidFill>
            <a:srgbClr val="F3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146304" cy="123444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1">
                <a:solidFill>
                  <a:srgbClr val="4C3AE3"/>
                </a:solidFill>
                <a:latin typeface="Meiryo"/>
              </a:rPr>
              <a:t>安全弁の実演</a:t>
            </a:r>
            <a:r>
              <a:rPr sz="1600" b="0">
                <a:solidFill>
                  <a:srgbClr val="1F2430"/>
                </a:solidFill>
                <a:latin typeface="Meiryo"/>
              </a:rPr>
              <a:t>    本番デプロイ/送信は必ず人間承認で止まる、を具体的に示す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5B6372"/>
                </a:solidFill>
                <a:latin typeface="Meiryo"/>
              </a:rPr>
              <a:t>要は「プロンプトを強くする」のではなく「環境（手綱と鞍）を設計する」を、動くコードで理解する教材。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eiryo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91440"/>
            <a:ext cx="10332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eiryo"/>
              </a:rPr>
              <a:t>動かし方 &amp; 共有リンク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64240" cy="1965960"/>
          </a:xfrm>
          <a:prstGeom prst="rect">
            <a:avLst/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solidFill>
            <a:srgbClr val="2D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9AA0B4"/>
                </a:solidFill>
                <a:latin typeface="Meiryo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86D3E7"/>
                </a:solidFill>
                <a:latin typeface="Meiryo"/>
              </a:rPr>
              <a:t>git clone https://github.com/hiroshi57/ai-platform-template.git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6EDF3"/>
                </a:solidFill>
                <a:latin typeface="Meiryo"/>
              </a:rPr>
              <a:t>cd ai-platform-template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1">
                <a:solidFill>
                  <a:srgbClr val="56E080"/>
                </a:solidFill>
                <a:latin typeface="Meiryo"/>
              </a:rPr>
              <a:t>node agent-harness/src/harness.mjs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2377440" cy="64008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840480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840480"/>
            <a:ext cx="8686800" cy="640080"/>
          </a:xfrm>
          <a:prstGeom prst="rect">
            <a:avLst/>
          </a:prstGeom>
          <a:solidFill>
            <a:srgbClr val="4C3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3840480"/>
            <a:ext cx="846734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eiryo"/>
              </a:rPr>
              <a:t>場所 / 条件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80560"/>
            <a:ext cx="2377440" cy="640080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480560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F2430"/>
                </a:solidFill>
                <a:latin typeface="Meiryo"/>
              </a:rPr>
              <a:t>リポジトリ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4480560"/>
            <a:ext cx="8686800" cy="640080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4480560"/>
            <a:ext cx="846734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E7C9E"/>
                </a:solidFill>
                <a:latin typeface="Meiryo"/>
              </a:rPr>
              <a:t>github.com/hiroshi57/ai-platform-template/tree/main/agent-harness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20640"/>
            <a:ext cx="2377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120640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F2430"/>
                </a:solidFill>
                <a:latin typeface="Meiryo"/>
              </a:rPr>
              <a:t>まず読む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5120640"/>
            <a:ext cx="8686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5808" y="5120640"/>
            <a:ext cx="846734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0E7C9E"/>
                </a:solidFill>
                <a:latin typeface="Meiryo"/>
              </a:rPr>
              <a:t>agent-harness/README.md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2377440" cy="640080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760720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F2430"/>
                </a:solidFill>
                <a:latin typeface="Meiryo"/>
              </a:rPr>
              <a:t>必要環境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5760720"/>
            <a:ext cx="8686800" cy="640080"/>
          </a:xfrm>
          <a:prstGeom prst="rect">
            <a:avLst/>
          </a:prstGeom>
          <a:solidFill>
            <a:srgbClr val="F3F4FB"/>
          </a:solidFill>
          <a:ln w="12700">
            <a:solidFill>
              <a:srgbClr val="E3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35808" y="5760720"/>
            <a:ext cx="846734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1F2430"/>
                </a:solidFill>
                <a:latin typeface="Meiryo"/>
              </a:rPr>
              <a:t>Node.js v18 以上（依存パッケージ不要）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0">
                <a:solidFill>
                  <a:srgbClr val="5B6372"/>
                </a:solidFill>
                <a:latin typeface="Meiryo"/>
              </a:rPr>
              <a:t>※ 社内メンバーが閲覧するには collaborator 招待 または 組織リポジトリへの移設が必要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